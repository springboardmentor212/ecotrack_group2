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A1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image" Target="../media/image5.jpe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Master" Target="../slideMasters/slideMaster1.xml" 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Master" Target="../slideMasters/slideMaster1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Master" Target="../slideMasters/slideMaster1.xml" 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Master" Target="../slideMasters/slideMaster1.xml" 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359139-99F8-4B6E-8834-95F2B9D91EE4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062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3997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799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14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359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5278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8625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3478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CB2F34-49A1-4C07-91D5-90BE967306D3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853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0633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8B2456C-66BE-435E-8059-3A9CD55F29F9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65684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7409D93-5111-4952-AC4F-FA1AE909A4B8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5385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3E10B2-AFF3-4A4A-BC83-5BB137C878CB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5954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C1935215-257D-4F50-AF56-70E3294947FA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/>
            <a:ahLst/>
            <a:cxnLst/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8892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B0E3CDF-6E7C-4C67-B567-8606B07963A0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5788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060FE60-4389-4D8B-84BB-900FC000024C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7689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9688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FCE55E5-7E1C-4243-A685-91A6EB8BE97F}" type="datetimeFigureOut">
              <a:rPr lang="en-US" dirty="0"/>
              <a:t>10/15/2026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6637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AFD96D-C3CB-4F44-8CE3-582861660F11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045805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4448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375550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C42AE-61C6-458B-86C3-22D39A5E8956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2619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D71BEE-9C65-4D84-970B-0B47E929926B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7525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29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57AF51-4D04-4E0C-B33D-81940CAB4B07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3134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ABFCF2-BE01-43CB-85B3-49CC0FE55050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8700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3543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007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26" Type="http://schemas.openxmlformats.org/officeDocument/2006/relationships/slideLayout" Target="../slideLayouts/slideLayout26.xml" /><Relationship Id="rId3" Type="http://schemas.openxmlformats.org/officeDocument/2006/relationships/slideLayout" Target="../slideLayouts/slideLayout3.xml" /><Relationship Id="rId21" Type="http://schemas.openxmlformats.org/officeDocument/2006/relationships/slideLayout" Target="../slideLayouts/slideLayout21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5" Type="http://schemas.openxmlformats.org/officeDocument/2006/relationships/slideLayout" Target="../slideLayouts/slideLayout25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29" Type="http://schemas.openxmlformats.org/officeDocument/2006/relationships/theme" Target="../theme/theme1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24" Type="http://schemas.openxmlformats.org/officeDocument/2006/relationships/slideLayout" Target="../slideLayouts/slideLayout24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23" Type="http://schemas.openxmlformats.org/officeDocument/2006/relationships/slideLayout" Target="../slideLayouts/slideLayout23.xml" /><Relationship Id="rId28" Type="http://schemas.openxmlformats.org/officeDocument/2006/relationships/slideLayout" Target="../slideLayouts/slideLayout28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slideLayout" Target="../slideLayouts/slideLayout22.xml" /><Relationship Id="rId27" Type="http://schemas.openxmlformats.org/officeDocument/2006/relationships/slideLayout" Target="../slideLayouts/slideLayout27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5117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36" r:id="rId18"/>
    <p:sldLayoutId id="2147483737" r:id="rId19"/>
    <p:sldLayoutId id="2147483738" r:id="rId20"/>
    <p:sldLayoutId id="2147483739" r:id="rId21"/>
    <p:sldLayoutId id="2147483740" r:id="rId22"/>
    <p:sldLayoutId id="2147483741" r:id="rId23"/>
    <p:sldLayoutId id="2147483742" r:id="rId24"/>
    <p:sldLayoutId id="2147483743" r:id="rId25"/>
    <p:sldLayoutId id="2147483744" r:id="rId26"/>
    <p:sldLayoutId id="2147483745" r:id="rId27"/>
    <p:sldLayoutId id="2147483746" r:id="rId28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28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28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28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2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548640"/>
            <a:ext cx="4114800" cy="4114800"/>
          </a:xfrm>
          <a:prstGeom prst="ellipse">
            <a:avLst/>
          </a:prstGeom>
          <a:solidFill>
            <a:srgbClr val="278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1828800"/>
            <a:ext cx="3383280" cy="3383280"/>
          </a:xfrm>
          <a:prstGeom prst="ellipse">
            <a:avLst/>
          </a:prstGeom>
          <a:solidFill>
            <a:srgbClr val="24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955279" y="3931920"/>
            <a:ext cx="3108960" cy="3108960"/>
          </a:xfrm>
          <a:prstGeom prst="ellipse">
            <a:avLst/>
          </a:prstGeom>
          <a:solidFill>
            <a:srgbClr val="1F5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26880" y="914400"/>
            <a:ext cx="256032" cy="256032"/>
          </a:xfrm>
          <a:prstGeom prst="ellipse">
            <a:avLst/>
          </a:prstGeom>
          <a:solidFill>
            <a:srgbClr val="CFE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24160" y="164592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0" y="5029200"/>
            <a:ext cx="201168" cy="201168"/>
          </a:xfrm>
          <a:prstGeom prst="ellipse">
            <a:avLst/>
          </a:prstGeom>
          <a:solidFill>
            <a:srgbClr val="CFE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0" y="4389120"/>
            <a:ext cx="164592" cy="164592"/>
          </a:xfrm>
          <a:prstGeom prst="ellipse">
            <a:avLst/>
          </a:prstGeom>
          <a:solidFill>
            <a:srgbClr val="D6A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973374"/>
            <a:ext cx="6583680" cy="78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ptos"/>
              </a:defRPr>
            </a:pPr>
            <a:r>
              <a:rPr dirty="0" err="1">
                <a:latin typeface="Comic Sans MS"/>
              </a:rPr>
              <a:t>EcoTrack</a:t>
            </a:r>
            <a:endParaRPr lang="en-US">
              <a:latin typeface="Comic Sans M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0059" y="2877230"/>
            <a:ext cx="61264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600" b="1">
                <a:solidFill>
                  <a:srgbClr val="CFE7D7"/>
                </a:solidFill>
                <a:latin typeface="Aptos"/>
              </a:defRPr>
            </a:pPr>
            <a:r>
              <a:t>Group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654" y="4789164"/>
            <a:ext cx="5598434" cy="7509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200" b="0">
                <a:solidFill>
                  <a:srgbClr val="FFFFFF"/>
                </a:solidFill>
                <a:latin typeface="Aptos"/>
              </a:defRPr>
            </a:pPr>
            <a:r>
              <a:t>Track Your Impact.</a:t>
            </a:r>
            <a:br/>
            <a:r>
              <a:t>Build a Greener Future.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004" y="6452451"/>
            <a:ext cx="530352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CFE7D7"/>
                </a:solidFill>
                <a:latin typeface="Aptos"/>
              </a:defRPr>
            </a:pPr>
            <a:r>
              <a:t>PROJECT </a:t>
            </a:r>
            <a:r>
              <a:rPr sz="1200"/>
              <a:t>PRESENTATION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01C687-A583-1164-0034-6E2F97DF8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" y="-4634"/>
            <a:ext cx="1926882" cy="15950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5E6D67D-0F42-62A6-666C-A0B7C1BC9257}"/>
              </a:ext>
            </a:extLst>
          </p:cNvPr>
          <p:cNvSpPr txBox="1"/>
          <p:nvPr/>
        </p:nvSpPr>
        <p:spPr>
          <a:xfrm>
            <a:off x="11451771" y="6452181"/>
            <a:ext cx="41148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718277"/>
                </a:solidFill>
                <a:latin typeface="Aptos"/>
              </a:defRPr>
            </a:pPr>
            <a:r>
              <a:rPr lang="en-US" sz="1100" b="1">
                <a:solidFill>
                  <a:srgbClr val="FFFF00"/>
                </a:solidFill>
              </a:rPr>
              <a:t>01</a:t>
            </a:r>
            <a:endParaRPr lang="en-US" sz="11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600" b="1">
                <a:solidFill>
                  <a:srgbClr val="173F2A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69848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718277"/>
                </a:solidFill>
                <a:latin typeface="Aptos"/>
              </a:defRPr>
            </a:pPr>
            <a:r>
              <a:rPr sz="1200"/>
              <a:t>A digital platform to support everyday sustainable choices</a:t>
            </a:r>
            <a:endParaRPr lang="en-US" sz="1200"/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658368" cy="50292"/>
          </a:xfrm>
          <a:prstGeom prst="rect">
            <a:avLst/>
          </a:prstGeom>
          <a:solidFill>
            <a:srgbClr val="278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3474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800" b="1">
                <a:solidFill>
                  <a:srgbClr val="718277"/>
                </a:solidFill>
                <a:latin typeface="Aptos"/>
              </a:defRPr>
            </a:pPr>
            <a:r>
              <a:t>ECOTRACK • GROUP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6400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5715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200" b="1">
                <a:solidFill>
                  <a:srgbClr val="173F2A"/>
                </a:solidFill>
                <a:latin typeface="Aptos"/>
              </a:defRPr>
            </a:pPr>
            <a:r>
              <a:t>What is EcoTrack?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95728"/>
            <a:ext cx="557784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0">
                <a:solidFill>
                  <a:srgbClr val="374B3F"/>
                </a:solidFill>
                <a:latin typeface="Aptos"/>
              </a:defRPr>
            </a:pPr>
            <a:r>
              <a:t>EcoTrack is a sustainability-focused web application that helps users record everyday activities and understand their environmental impact.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57600"/>
            <a:ext cx="57150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27834D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4233672"/>
            <a:ext cx="91440" cy="91440"/>
          </a:xfrm>
          <a:prstGeom prst="ellipse">
            <a:avLst/>
          </a:prstGeom>
          <a:solidFill>
            <a:srgbClr val="278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4133087"/>
            <a:ext cx="546811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374B3F"/>
                </a:solidFill>
                <a:latin typeface="Aptos"/>
              </a:defRPr>
            </a:pPr>
            <a:r>
              <a:t>Track transportation, electricity use and waste activity.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" y="4709159"/>
            <a:ext cx="91440" cy="91440"/>
          </a:xfrm>
          <a:prstGeom prst="ellipse">
            <a:avLst/>
          </a:prstGeom>
          <a:solidFill>
            <a:srgbClr val="278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4608575"/>
            <a:ext cx="546811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374B3F"/>
                </a:solidFill>
                <a:latin typeface="Aptos"/>
              </a:defRPr>
            </a:pPr>
            <a:r>
              <a:t>Monitor personal goals and community challenge progress.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5184648"/>
            <a:ext cx="91440" cy="91440"/>
          </a:xfrm>
          <a:prstGeom prst="ellipse">
            <a:avLst/>
          </a:prstGeom>
          <a:solidFill>
            <a:srgbClr val="278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5084064"/>
            <a:ext cx="5468112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374B3F"/>
                </a:solidFill>
                <a:latin typeface="Aptos"/>
              </a:defRPr>
            </a:pPr>
            <a:r>
              <a:rPr dirty="0"/>
              <a:t>Support administrators with </a:t>
            </a:r>
            <a:r>
              <a:rPr lang="en-US" dirty="0"/>
              <a:t>managing user</a:t>
            </a:r>
            <a:r>
              <a:rPr dirty="0"/>
              <a:t> and </a:t>
            </a:r>
            <a:r>
              <a:rPr lang="en-US" dirty="0"/>
              <a:t>create challenge and </a:t>
            </a:r>
            <a:r>
              <a:rPr lang="en-US"/>
              <a:t>generating reports</a:t>
            </a:r>
            <a: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1508760"/>
            <a:ext cx="4114800" cy="4343400"/>
          </a:xfrm>
          <a:prstGeom prst="roundRect">
            <a:avLst/>
          </a:prstGeom>
          <a:solidFill>
            <a:srgbClr val="EAF5ED"/>
          </a:solidFill>
          <a:ln>
            <a:solidFill>
              <a:srgbClr val="EA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29600" y="1965960"/>
            <a:ext cx="2331720" cy="2331720"/>
          </a:xfrm>
          <a:prstGeom prst="ellipse">
            <a:avLst/>
          </a:prstGeom>
          <a:solidFill>
            <a:srgbClr val="278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49640" y="2286000"/>
            <a:ext cx="1691640" cy="1691640"/>
          </a:xfrm>
          <a:prstGeom prst="ellipse">
            <a:avLst/>
          </a:prstGeom>
          <a:solidFill>
            <a:srgbClr val="173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87968" y="2624328"/>
            <a:ext cx="1005840" cy="1005840"/>
          </a:xfrm>
          <a:prstGeom prst="ellipse">
            <a:avLst/>
          </a:prstGeom>
          <a:solidFill>
            <a:srgbClr val="CFE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0" y="4617720"/>
            <a:ext cx="33832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600" b="1">
                <a:solidFill>
                  <a:srgbClr val="173F2A"/>
                </a:solidFill>
                <a:latin typeface="Aptos"/>
              </a:defRPr>
            </a:pPr>
            <a:r>
              <a:t>Measure • Improve • Sustain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5166360"/>
            <a:ext cx="3291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0">
                <a:solidFill>
                  <a:srgbClr val="718277"/>
                </a:solidFill>
                <a:latin typeface="Aptos"/>
              </a:defRPr>
            </a:pPr>
            <a:r>
              <a:t>Designed for users and admins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CFB9C1-FDA7-6B80-F9E9-4774C3A01307}"/>
              </a:ext>
            </a:extLst>
          </p:cNvPr>
          <p:cNvSpPr txBox="1"/>
          <p:nvPr/>
        </p:nvSpPr>
        <p:spPr>
          <a:xfrm>
            <a:off x="11201400" y="6473952"/>
            <a:ext cx="4114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718277"/>
                </a:solidFill>
                <a:latin typeface="Aptos"/>
              </a:defRPr>
            </a:pPr>
            <a:r>
              <a:rPr lang="en-US" sz="1000" b="1">
                <a:solidFill>
                  <a:srgbClr val="42A135"/>
                </a:solidFill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600" b="1">
                <a:solidFill>
                  <a:srgbClr val="173F2A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69848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718277"/>
                </a:solidFill>
                <a:latin typeface="Aptos"/>
              </a:defRPr>
            </a:pPr>
            <a:r>
              <a:rPr sz="1200"/>
              <a:t>Technologies identified in the supplied project source</a:t>
            </a:r>
            <a:endParaRPr lang="en-US" sz="1200"/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658368" cy="50292"/>
          </a:xfrm>
          <a:prstGeom prst="rect">
            <a:avLst/>
          </a:prstGeom>
          <a:solidFill>
            <a:srgbClr val="278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718277"/>
                </a:solidFill>
                <a:latin typeface="Aptos"/>
              </a:defRPr>
            </a:pPr>
            <a:r>
              <a:rPr sz="1000" b="1"/>
              <a:t>03</a:t>
            </a:r>
            <a:endParaRPr lang="en-US" sz="1000" b="1"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3474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800" b="1">
                <a:solidFill>
                  <a:srgbClr val="718277"/>
                </a:solidFill>
                <a:latin typeface="Aptos"/>
              </a:defRPr>
            </a:pPr>
            <a:r>
              <a:t>ECOTRACK • GROUP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3493008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673351"/>
            <a:ext cx="3063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27834D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11680"/>
            <a:ext cx="30632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73F2A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78024"/>
            <a:ext cx="3063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718277"/>
                </a:solidFill>
                <a:latin typeface="Aptos"/>
              </a:defRPr>
            </a:pPr>
            <a:r>
              <a:t>JavaScript • React Router • Vite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508760"/>
            <a:ext cx="3493008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7" y="1673351"/>
            <a:ext cx="3063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27834D"/>
                </a:solidFill>
                <a:latin typeface="Aptos"/>
              </a:defRPr>
            </a:pPr>
            <a:r>
              <a:t>UI &amp; VISUALS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7" y="2011680"/>
            <a:ext cx="30632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73F2A"/>
                </a:solidFill>
                <a:latin typeface="Aptos"/>
              </a:defRPr>
            </a:pPr>
            <a:r>
              <a:t>Tailwind CSS / 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7" y="2478024"/>
            <a:ext cx="3063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718277"/>
                </a:solidFill>
                <a:latin typeface="Aptos"/>
              </a:defRPr>
            </a:pPr>
            <a:r>
              <a:t>Responsive layouts and component styling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508760"/>
            <a:ext cx="3493008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1673351"/>
            <a:ext cx="3063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27834D"/>
                </a:solidFill>
                <a:latin typeface="Aptos"/>
              </a:defRPr>
            </a:pPr>
            <a:r>
              <a:t>API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011680"/>
            <a:ext cx="30632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73F2A"/>
                </a:solidFill>
                <a:latin typeface="Aptos"/>
              </a:defRPr>
            </a:pPr>
            <a:r>
              <a:t>Axios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478024"/>
            <a:ext cx="3063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718277"/>
                </a:solidFill>
                <a:latin typeface="Aptos"/>
              </a:defRPr>
            </a:pPr>
            <a:r>
              <a:t>HTTP requests to backend endpoints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66160"/>
            <a:ext cx="3493008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3730752"/>
            <a:ext cx="3063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27834D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069080"/>
            <a:ext cx="30632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73F2A"/>
                </a:solidFill>
                <a:latin typeface="Aptos"/>
              </a:defRPr>
            </a:pPr>
            <a:r>
              <a:t>Node.js • Express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535424"/>
            <a:ext cx="3063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718277"/>
                </a:solidFill>
                <a:latin typeface="Aptos"/>
              </a:defRPr>
            </a:pPr>
            <a:r>
              <a:t>Routes, controllers, middleware and scheduled jobs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3566160"/>
            <a:ext cx="3493008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81727" y="3730752"/>
            <a:ext cx="3063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27834D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7" y="4069080"/>
            <a:ext cx="30632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73F2A"/>
                </a:solidFill>
                <a:latin typeface="Aptos"/>
              </a:defRPr>
            </a:pPr>
            <a:r>
              <a:t>MongoDB • Mongoose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7" y="4535424"/>
            <a:ext cx="3063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718277"/>
                </a:solidFill>
                <a:latin typeface="Aptos"/>
              </a:defRPr>
            </a:pPr>
            <a:r>
              <a:t>Models, schemas and aggregation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02752" y="3566160"/>
            <a:ext cx="3493008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0" y="3730752"/>
            <a:ext cx="3063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27834D"/>
                </a:solidFill>
                <a:latin typeface="Aptos"/>
              </a:defRPr>
            </a:pPr>
            <a:r>
              <a:t>SUPPORTING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069080"/>
            <a:ext cx="30632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73F2A"/>
                </a:solidFill>
                <a:latin typeface="Aptos"/>
              </a:defRPr>
            </a:pPr>
            <a:r>
              <a:t>Nodemailer • node-cron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535424"/>
            <a:ext cx="3063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718277"/>
                </a:solidFill>
                <a:latin typeface="Aptos"/>
              </a:defRPr>
            </a:pPr>
            <a:r>
              <a:t>Email OTP verification and scheduled reminders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600" b="1">
                <a:solidFill>
                  <a:srgbClr val="173F2A"/>
                </a:solidFill>
                <a:latin typeface="Aptos"/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69848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718277"/>
                </a:solidFill>
                <a:latin typeface="Aptos"/>
              </a:defRPr>
            </a:pPr>
            <a:r>
              <a:rPr sz="1200"/>
              <a:t>User-facing functionality and administration tools</a:t>
            </a:r>
            <a:endParaRPr lang="en-US" sz="1200"/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658368" cy="50292"/>
          </a:xfrm>
          <a:prstGeom prst="rect">
            <a:avLst/>
          </a:prstGeom>
          <a:solidFill>
            <a:srgbClr val="278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718277"/>
                </a:solidFill>
                <a:latin typeface="Aptos"/>
              </a:defRPr>
            </a:pPr>
            <a:r>
              <a:rPr sz="1000" b="1"/>
              <a:t>04</a:t>
            </a:r>
            <a:endParaRPr lang="en-US" sz="1000" b="1"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3474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800" b="1">
                <a:solidFill>
                  <a:srgbClr val="718277"/>
                </a:solidFill>
                <a:latin typeface="Aptos"/>
              </a:defRPr>
            </a:pPr>
            <a:r>
              <a:t>ECOTRACK • GROUP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493008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3017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27834D"/>
                </a:solidFill>
                <a:latin typeface="Aptos"/>
              </a:defRPr>
            </a:pPr>
            <a:r>
              <a:t>ACTIVITY TRACKING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487168"/>
            <a:ext cx="530352" cy="530352"/>
          </a:xfrm>
          <a:prstGeom prst="ellipse">
            <a:avLst/>
          </a:prstGeom>
          <a:solidFill>
            <a:srgbClr val="E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596896"/>
            <a:ext cx="53035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600" b="1">
                <a:solidFill>
                  <a:srgbClr val="27834D"/>
                </a:solidFill>
                <a:latin typeface="Aptos"/>
              </a:defRPr>
            </a:pPr>
            <a:r>
              <a:t>↗</a:t>
            </a:r>
          </a:p>
        </p:txBody>
      </p:sp>
      <p:sp>
        <p:nvSpPr>
          <p:cNvPr id="11" name="Oval 10"/>
          <p:cNvSpPr/>
          <p:nvPr/>
        </p:nvSpPr>
        <p:spPr>
          <a:xfrm>
            <a:off x="941832" y="3346703"/>
            <a:ext cx="91440" cy="91440"/>
          </a:xfrm>
          <a:prstGeom prst="ellipse">
            <a:avLst/>
          </a:prstGeom>
          <a:solidFill>
            <a:srgbClr val="278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3246120"/>
            <a:ext cx="2770632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374B3F"/>
                </a:solidFill>
                <a:latin typeface="Aptos"/>
              </a:defRPr>
            </a:pPr>
            <a:r>
              <a:t>Transportation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4050792"/>
            <a:ext cx="91440" cy="91440"/>
          </a:xfrm>
          <a:prstGeom prst="ellipse">
            <a:avLst/>
          </a:prstGeom>
          <a:solidFill>
            <a:srgbClr val="278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3950208"/>
            <a:ext cx="2770632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374B3F"/>
                </a:solidFill>
                <a:latin typeface="Aptos"/>
              </a:defRPr>
            </a:pPr>
            <a:r>
              <a:t>Electricity consumption</a:t>
            </a:r>
          </a:p>
        </p:txBody>
      </p:sp>
      <p:sp>
        <p:nvSpPr>
          <p:cNvPr id="15" name="Oval 14"/>
          <p:cNvSpPr/>
          <p:nvPr/>
        </p:nvSpPr>
        <p:spPr>
          <a:xfrm>
            <a:off x="941832" y="4754880"/>
            <a:ext cx="91440" cy="91440"/>
          </a:xfrm>
          <a:prstGeom prst="ellipse">
            <a:avLst/>
          </a:prstGeom>
          <a:solidFill>
            <a:srgbClr val="278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4654296"/>
            <a:ext cx="2770632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374B3F"/>
                </a:solidFill>
                <a:latin typeface="Aptos"/>
              </a:defRPr>
            </a:pPr>
            <a:r>
              <a:t>Waste 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44568" y="1600200"/>
            <a:ext cx="3493008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1874519"/>
            <a:ext cx="3017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27834D"/>
                </a:solidFill>
                <a:latin typeface="Aptos"/>
              </a:defRPr>
            </a:pPr>
            <a:r>
              <a:t>SUSTAINABILITY</a:t>
            </a:r>
          </a:p>
        </p:txBody>
      </p:sp>
      <p:sp>
        <p:nvSpPr>
          <p:cNvPr id="19" name="Oval 18"/>
          <p:cNvSpPr/>
          <p:nvPr/>
        </p:nvSpPr>
        <p:spPr>
          <a:xfrm>
            <a:off x="4773168" y="2487168"/>
            <a:ext cx="530352" cy="530352"/>
          </a:xfrm>
          <a:prstGeom prst="ellipse">
            <a:avLst/>
          </a:prstGeom>
          <a:solidFill>
            <a:srgbClr val="E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73168" y="2596896"/>
            <a:ext cx="53035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600" b="1">
                <a:solidFill>
                  <a:srgbClr val="27834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Oval 20"/>
          <p:cNvSpPr/>
          <p:nvPr/>
        </p:nvSpPr>
        <p:spPr>
          <a:xfrm>
            <a:off x="4800600" y="3346703"/>
            <a:ext cx="91440" cy="91440"/>
          </a:xfrm>
          <a:prstGeom prst="ellipse">
            <a:avLst/>
          </a:prstGeom>
          <a:solidFill>
            <a:srgbClr val="278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01768" y="3246120"/>
            <a:ext cx="2770632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374B3F"/>
                </a:solidFill>
                <a:latin typeface="Aptos"/>
              </a:defRPr>
            </a:pPr>
            <a:r>
              <a:t>Goals and progress</a:t>
            </a:r>
          </a:p>
        </p:txBody>
      </p:sp>
      <p:sp>
        <p:nvSpPr>
          <p:cNvPr id="23" name="Oval 22"/>
          <p:cNvSpPr/>
          <p:nvPr/>
        </p:nvSpPr>
        <p:spPr>
          <a:xfrm>
            <a:off x="4800600" y="4050792"/>
            <a:ext cx="91440" cy="91440"/>
          </a:xfrm>
          <a:prstGeom prst="ellipse">
            <a:avLst/>
          </a:prstGeom>
          <a:solidFill>
            <a:srgbClr val="278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01768" y="3950208"/>
            <a:ext cx="2770632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374B3F"/>
                </a:solidFill>
                <a:latin typeface="Aptos"/>
              </a:defRPr>
            </a:pPr>
            <a:r>
              <a:t>Community challenges</a:t>
            </a:r>
          </a:p>
        </p:txBody>
      </p:sp>
      <p:sp>
        <p:nvSpPr>
          <p:cNvPr id="25" name="Oval 24"/>
          <p:cNvSpPr/>
          <p:nvPr/>
        </p:nvSpPr>
        <p:spPr>
          <a:xfrm>
            <a:off x="4800600" y="4754880"/>
            <a:ext cx="91440" cy="91440"/>
          </a:xfrm>
          <a:prstGeom prst="ellipse">
            <a:avLst/>
          </a:prstGeom>
          <a:solidFill>
            <a:srgbClr val="278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01768" y="4654296"/>
            <a:ext cx="2770632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374B3F"/>
                </a:solidFill>
                <a:latin typeface="Aptos"/>
              </a:defRPr>
            </a:pPr>
            <a:r>
              <a:t>Notifications and reminders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03336" y="1600200"/>
            <a:ext cx="3493008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31936" y="1874519"/>
            <a:ext cx="3017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27834D"/>
                </a:solidFill>
                <a:latin typeface="Aptos"/>
              </a:defRPr>
            </a:pPr>
            <a:r>
              <a:t>ACCOUNT &amp; ADMIN</a:t>
            </a:r>
          </a:p>
        </p:txBody>
      </p:sp>
      <p:sp>
        <p:nvSpPr>
          <p:cNvPr id="29" name="Oval 28"/>
          <p:cNvSpPr/>
          <p:nvPr/>
        </p:nvSpPr>
        <p:spPr>
          <a:xfrm>
            <a:off x="8631936" y="2487168"/>
            <a:ext cx="530352" cy="530352"/>
          </a:xfrm>
          <a:prstGeom prst="ellipse">
            <a:avLst/>
          </a:prstGeom>
          <a:solidFill>
            <a:srgbClr val="E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31936" y="2596896"/>
            <a:ext cx="53035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600" b="1">
                <a:solidFill>
                  <a:srgbClr val="27834D"/>
                </a:solidFill>
                <a:latin typeface="Aptos"/>
              </a:defRPr>
            </a:pPr>
            <a:r>
              <a:t>⚙</a:t>
            </a:r>
          </a:p>
        </p:txBody>
      </p:sp>
      <p:sp>
        <p:nvSpPr>
          <p:cNvPr id="31" name="Oval 30"/>
          <p:cNvSpPr/>
          <p:nvPr/>
        </p:nvSpPr>
        <p:spPr>
          <a:xfrm>
            <a:off x="8659367" y="3346703"/>
            <a:ext cx="91440" cy="91440"/>
          </a:xfrm>
          <a:prstGeom prst="ellipse">
            <a:avLst/>
          </a:prstGeom>
          <a:solidFill>
            <a:srgbClr val="278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60536" y="3246120"/>
            <a:ext cx="2770632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374B3F"/>
                </a:solidFill>
                <a:latin typeface="Aptos"/>
              </a:defRPr>
            </a:pPr>
            <a:r>
              <a:t>Email verification and profiles</a:t>
            </a:r>
          </a:p>
        </p:txBody>
      </p:sp>
      <p:sp>
        <p:nvSpPr>
          <p:cNvPr id="33" name="Oval 32"/>
          <p:cNvSpPr/>
          <p:nvPr/>
        </p:nvSpPr>
        <p:spPr>
          <a:xfrm>
            <a:off x="8659367" y="4050792"/>
            <a:ext cx="91440" cy="91440"/>
          </a:xfrm>
          <a:prstGeom prst="ellipse">
            <a:avLst/>
          </a:prstGeom>
          <a:solidFill>
            <a:srgbClr val="278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60536" y="3950208"/>
            <a:ext cx="2770632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374B3F"/>
                </a:solidFill>
                <a:latin typeface="Aptos"/>
              </a:defRPr>
            </a:pPr>
            <a:r>
              <a:t>Admin dashboard and user management</a:t>
            </a:r>
          </a:p>
        </p:txBody>
      </p:sp>
      <p:sp>
        <p:nvSpPr>
          <p:cNvPr id="35" name="Oval 34"/>
          <p:cNvSpPr/>
          <p:nvPr/>
        </p:nvSpPr>
        <p:spPr>
          <a:xfrm>
            <a:off x="8659367" y="4754880"/>
            <a:ext cx="91440" cy="91440"/>
          </a:xfrm>
          <a:prstGeom prst="ellipse">
            <a:avLst/>
          </a:prstGeom>
          <a:solidFill>
            <a:srgbClr val="278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60536" y="4654296"/>
            <a:ext cx="2770632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374B3F"/>
                </a:solidFill>
                <a:latin typeface="Aptos"/>
              </a:defRPr>
            </a:pPr>
            <a:r>
              <a:t>Challenge management and reports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600" b="1">
                <a:solidFill>
                  <a:srgbClr val="173F2A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69848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718277"/>
                </a:solidFill>
                <a:latin typeface="Aptos"/>
              </a:defRPr>
            </a:pPr>
            <a:r>
              <a:rPr sz="1200"/>
              <a:t>High-level request and data flow based on the supplied codebase</a:t>
            </a:r>
            <a:endParaRPr lang="en-US" sz="1200"/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658368" cy="50292"/>
          </a:xfrm>
          <a:prstGeom prst="rect">
            <a:avLst/>
          </a:prstGeom>
          <a:solidFill>
            <a:srgbClr val="278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718277"/>
                </a:solidFill>
                <a:latin typeface="Aptos"/>
              </a:defRPr>
            </a:pPr>
            <a:r>
              <a:rPr sz="1000" b="1"/>
              <a:t>05</a:t>
            </a:r>
            <a:endParaRPr lang="en-US" sz="1000" b="1"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3474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800" b="1">
                <a:solidFill>
                  <a:srgbClr val="718277"/>
                </a:solidFill>
                <a:latin typeface="Aptos"/>
              </a:defRPr>
            </a:pPr>
            <a:r>
              <a:t>ECOTRACK • GROUP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286000"/>
            <a:ext cx="1837943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1">
                <a:solidFill>
                  <a:srgbClr val="173F2A"/>
                </a:solidFill>
                <a:latin typeface="Aptos"/>
              </a:defRPr>
            </a:pPr>
            <a:r>
              <a:t>USER /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697480"/>
            <a:ext cx="1837943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00" b="0">
                <a:solidFill>
                  <a:srgbClr val="718277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05740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47288" y="2286000"/>
            <a:ext cx="2112263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1">
                <a:solidFill>
                  <a:srgbClr val="173F2A"/>
                </a:solidFill>
                <a:latin typeface="Aptos"/>
              </a:defRPr>
            </a:pPr>
            <a:r>
              <a:t>REACT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2697480"/>
            <a:ext cx="2112263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00" b="0">
                <a:solidFill>
                  <a:srgbClr val="718277"/>
                </a:solidFill>
                <a:latin typeface="Aptos"/>
              </a:defRPr>
            </a:pPr>
            <a:r>
              <a:t>Pages • Layouts • Routes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057400"/>
            <a:ext cx="2331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2286000"/>
            <a:ext cx="2112263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1">
                <a:solidFill>
                  <a:srgbClr val="173F2A"/>
                </a:solidFill>
                <a:latin typeface="Aptos"/>
              </a:defRPr>
            </a:pPr>
            <a:r>
              <a:t>EXPRESS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697480"/>
            <a:ext cx="2112263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00" b="0">
                <a:solidFill>
                  <a:srgbClr val="718277"/>
                </a:solidFill>
                <a:latin typeface="Aptos"/>
              </a:defRPr>
            </a:pPr>
            <a:r>
              <a:t>Routes • Controllers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2057400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99448" y="2286000"/>
            <a:ext cx="2020824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1">
                <a:solidFill>
                  <a:srgbClr val="173F2A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9448" y="2697480"/>
            <a:ext cx="202082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00" b="0">
                <a:solidFill>
                  <a:srgbClr val="718277"/>
                </a:solidFill>
                <a:latin typeface="Aptos"/>
              </a:defRPr>
            </a:pPr>
            <a:r>
              <a:t>Mongoose models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0" y="2633472"/>
            <a:ext cx="594360" cy="0"/>
          </a:xfrm>
          <a:prstGeom prst="line">
            <a:avLst/>
          </a:prstGeom>
          <a:ln w="25400">
            <a:solidFill>
              <a:srgbClr val="278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669280" y="2633472"/>
            <a:ext cx="594360" cy="0"/>
          </a:xfrm>
          <a:prstGeom prst="line">
            <a:avLst/>
          </a:prstGeom>
          <a:ln w="25400">
            <a:solidFill>
              <a:srgbClr val="278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595360" y="2633472"/>
            <a:ext cx="594360" cy="0"/>
          </a:xfrm>
          <a:prstGeom prst="line">
            <a:avLst/>
          </a:prstGeom>
          <a:ln w="25400">
            <a:solidFill>
              <a:srgbClr val="278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97280" y="4069080"/>
            <a:ext cx="10012680" cy="1234440"/>
          </a:xfrm>
          <a:prstGeom prst="roundRect">
            <a:avLst/>
          </a:prstGeom>
          <a:solidFill>
            <a:srgbClr val="EAF5ED"/>
          </a:solidFill>
          <a:ln>
            <a:solidFill>
              <a:srgbClr val="EA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17320" y="4315968"/>
            <a:ext cx="9372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500" b="1">
                <a:solidFill>
                  <a:srgbClr val="173F2A"/>
                </a:solidFill>
                <a:latin typeface="Aptos"/>
              </a:defRPr>
            </a:pPr>
            <a:r>
              <a:t>Supporting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773168"/>
            <a:ext cx="9372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0">
                <a:solidFill>
                  <a:srgbClr val="374B3F"/>
                </a:solidFill>
                <a:latin typeface="Aptos"/>
              </a:defRPr>
            </a:pPr>
            <a:r>
              <a:t>Email OTP (Nodemailer)  •  Scheduled jobs (node-cron)  •  Aggregation-based summaries  •  PDF reports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600" b="1">
                <a:solidFill>
                  <a:srgbClr val="173F2A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Key Challenges 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69848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718277"/>
                </a:solidFill>
                <a:latin typeface="Aptos"/>
              </a:defRPr>
            </a:pPr>
            <a:r>
              <a:rPr lang="en-US" sz="1200"/>
              <a:t>Summary of implementation challenges.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658368" cy="50292"/>
          </a:xfrm>
          <a:prstGeom prst="rect">
            <a:avLst/>
          </a:prstGeom>
          <a:solidFill>
            <a:srgbClr val="278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718277"/>
                </a:solidFill>
                <a:latin typeface="Aptos"/>
              </a:defRPr>
            </a:pPr>
            <a:r>
              <a:rPr sz="1000" b="1"/>
              <a:t>06</a:t>
            </a:r>
            <a:endParaRPr lang="en-US" sz="1000" b="1"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3474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800" b="1">
                <a:solidFill>
                  <a:srgbClr val="718277"/>
                </a:solidFill>
                <a:latin typeface="Aptos"/>
              </a:defRPr>
            </a:pPr>
            <a:r>
              <a:t>ECOTRACK • GROUP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61029"/>
            <a:ext cx="10744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1894180"/>
            <a:ext cx="2331720" cy="27392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defRPr sz="1300" b="1">
                <a:solidFill>
                  <a:srgbClr val="173F2A"/>
                </a:solidFill>
                <a:latin typeface="Aptos"/>
              </a:defRPr>
            </a:pPr>
            <a:r>
              <a:rPr lang="en-IN" dirty="0">
                <a:ea typeface="+mn-lt"/>
                <a:cs typeface="+mn-lt"/>
              </a:rPr>
              <a:t>Carbon Footprint </a:t>
            </a:r>
            <a:r>
              <a:rPr lang="en-US" dirty="0">
                <a:ea typeface="+mn-lt"/>
                <a:cs typeface="+mn-lt"/>
              </a:rPr>
              <a:t>Tracking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337559" y="1831837"/>
            <a:ext cx="7726679" cy="44319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defRPr sz="1100" b="0">
                <a:solidFill>
                  <a:srgbClr val="374B3F"/>
                </a:solidFill>
                <a:latin typeface="Aptos"/>
              </a:defRPr>
            </a:pPr>
            <a:r>
              <a:rPr lang="en-US" sz="1200">
                <a:ea typeface="+mn-lt"/>
                <a:cs typeface="+mn-lt"/>
              </a:rPr>
              <a:t>Developing </a:t>
            </a:r>
            <a:r>
              <a:rPr lang="en-US" sz="1200" dirty="0">
                <a:ea typeface="+mn-lt"/>
                <a:cs typeface="+mn-lt"/>
              </a:rPr>
              <a:t> a reliable activity tracking system to record transportation, electricity consumption, and waste production and calculate the associated carbon footprint.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833328"/>
            <a:ext cx="10744200" cy="79496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0800000" flipV="1">
            <a:off x="1028414" y="2993821"/>
            <a:ext cx="1764791" cy="4739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defRPr sz="1300" b="1">
                <a:solidFill>
                  <a:srgbClr val="173F2A"/>
                </a:solidFill>
                <a:latin typeface="Aptos"/>
              </a:defRPr>
            </a:pPr>
            <a:r>
              <a:rPr lang="en-US">
                <a:ea typeface="+mn-lt"/>
                <a:cs typeface="+mn-lt"/>
              </a:rPr>
              <a:t>Goal and Challenge Progress Calculation</a:t>
            </a:r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282696" y="2985802"/>
            <a:ext cx="7726679" cy="44319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defRPr sz="1100" b="0">
                <a:solidFill>
                  <a:srgbClr val="374B3F"/>
                </a:solidFill>
                <a:latin typeface="Aptos"/>
              </a:defRPr>
            </a:pPr>
            <a:r>
              <a:rPr lang="en-US" sz="1200">
                <a:ea typeface="+mn-lt"/>
                <a:cs typeface="+mn-lt"/>
              </a:rPr>
              <a:t>Implementing  accurate progress tracking and automatically updating goal and challenge statuses based on user activities, </a:t>
            </a:r>
            <a:r>
              <a:rPr lang="en-US" sz="1200" dirty="0">
                <a:ea typeface="+mn-lt"/>
                <a:cs typeface="+mn-lt"/>
              </a:rPr>
              <a:t>targets, and defined time periods.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031566"/>
            <a:ext cx="10744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144331"/>
            <a:ext cx="2331720" cy="4739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defRPr sz="1300" b="1">
                <a:solidFill>
                  <a:srgbClr val="173F2A"/>
                </a:solidFill>
                <a:latin typeface="Aptos"/>
              </a:defRPr>
            </a:pPr>
            <a:r>
              <a:rPr lang="en-US" dirty="0">
                <a:ea typeface="+mn-lt"/>
                <a:cs typeface="+mn-lt"/>
              </a:rPr>
              <a:t>Automated Goal and </a:t>
            </a:r>
            <a:r>
              <a:rPr lang="en-US">
                <a:ea typeface="+mn-lt"/>
                <a:cs typeface="+mn-lt"/>
              </a:rPr>
              <a:t>Challenge Suggestions</a:t>
            </a:r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3282695" y="4166645"/>
            <a:ext cx="7726679" cy="44319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defRPr sz="1100" b="0">
                <a:solidFill>
                  <a:srgbClr val="374B3F"/>
                </a:solidFill>
                <a:latin typeface="Aptos"/>
              </a:defRPr>
            </a:pPr>
            <a:r>
              <a:rPr lang="en-US" sz="1200">
                <a:ea typeface="+mn-lt"/>
                <a:cs typeface="+mn-lt"/>
              </a:rPr>
              <a:t>Developing  an automated system to suggest personalized goals and challenges and send timely reminders and notifications to </a:t>
            </a:r>
            <a:r>
              <a:rPr lang="en-US" sz="1200" dirty="0">
                <a:ea typeface="+mn-lt"/>
                <a:cs typeface="+mn-lt"/>
              </a:rPr>
              <a:t>encourage users to adopt sustainable habits.</a:t>
            </a:r>
            <a:endParaRPr lang="en-US" sz="1200"/>
          </a:p>
        </p:txBody>
      </p:sp>
      <p:sp>
        <p:nvSpPr>
          <p:cNvPr id="19" name="Rounded Rectangle 18"/>
          <p:cNvSpPr/>
          <p:nvPr/>
        </p:nvSpPr>
        <p:spPr>
          <a:xfrm>
            <a:off x="713232" y="5184648"/>
            <a:ext cx="10744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426026"/>
            <a:ext cx="2331720" cy="27392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defRPr sz="1300" b="1">
                <a:solidFill>
                  <a:srgbClr val="173F2A"/>
                </a:solidFill>
                <a:latin typeface="Aptos"/>
              </a:defRPr>
            </a:pPr>
            <a:r>
              <a:rPr lang="en-US">
                <a:ea typeface="+mn-lt"/>
                <a:cs typeface="+mn-lt"/>
              </a:rPr>
              <a:t>Admin Report Generation</a:t>
            </a:r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3282695" y="5255503"/>
            <a:ext cx="7726679" cy="75097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285750" indent="-285750">
              <a:buFont typeface="Arial"/>
              <a:buChar char="•"/>
              <a:defRPr sz="1100" b="0">
                <a:solidFill>
                  <a:srgbClr val="374B3F"/>
                </a:solidFill>
                <a:latin typeface="Aptos"/>
              </a:defRPr>
            </a:pPr>
            <a:r>
              <a:rPr lang="en-US" sz="1100">
                <a:ea typeface="+mn-lt"/>
                <a:cs typeface="+mn-lt"/>
              </a:rPr>
              <a:t>Developing a reporting feature to retrieve and organize user statistics, challenge participation, and completion data.</a:t>
            </a:r>
            <a:endParaRPr lang="en-US"/>
          </a:p>
          <a:p>
            <a:pPr marL="285750" indent="-285750">
              <a:buFont typeface="Arial"/>
              <a:buChar char="•"/>
              <a:defRPr sz="1100" b="0">
                <a:solidFill>
                  <a:srgbClr val="374B3F"/>
                </a:solidFill>
                <a:latin typeface="Aptos"/>
              </a:defRPr>
            </a:pPr>
            <a:r>
              <a:rPr lang="en-US" sz="1100">
                <a:ea typeface="+mn-lt"/>
                <a:cs typeface="+mn-lt"/>
              </a:rPr>
              <a:t>Ensuring that report information is presented in a clear and structured format for effective administrative monitoring and analysis.</a:t>
            </a:r>
            <a:endParaRPr lang="en-US">
              <a:ea typeface="+mn-lt"/>
              <a:cs typeface="+mn-lt"/>
            </a:endParaRPr>
          </a:p>
          <a:p>
            <a:pPr marL="285750" indent="-285750">
              <a:defRPr sz="1100" b="0">
                <a:solidFill>
                  <a:srgbClr val="374B3F"/>
                </a:solidFill>
                <a:latin typeface="Aptos"/>
              </a:defRPr>
            </a:pPr>
            <a:endParaRPr lang="en-US" sz="1100" dirty="0">
              <a:ea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BB997-0223-5749-43D0-EF4C9D87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DAC07-D881-4F36-B9B7-2C39F917112C}" type="datetime1"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085B7D-4AAE-F395-2102-D836C39E2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9123" y="389912"/>
            <a:ext cx="2726376" cy="338328"/>
          </a:xfrm>
        </p:spPr>
        <p:txBody>
          <a:bodyPr/>
          <a:lstStyle/>
          <a:p>
            <a:r>
              <a:rPr lang="en-US" sz="2600" b="1">
                <a:solidFill>
                  <a:schemeClr val="bg1"/>
                </a:solidFill>
                <a:latin typeface="Aptos"/>
                <a:ea typeface="Calibri"/>
                <a:cs typeface="Calibri"/>
              </a:rPr>
              <a:t>Solution</a:t>
            </a:r>
            <a:endParaRPr lang="en-US" sz="2600" b="1" dirty="0">
              <a:solidFill>
                <a:schemeClr val="bg1"/>
              </a:solidFill>
              <a:latin typeface="Aptos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99609-4F2C-312F-144A-C48A15F3C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558703-3B1A-EFD1-82F8-5B69C55E3F62}"/>
              </a:ext>
            </a:extLst>
          </p:cNvPr>
          <p:cNvSpPr txBox="1"/>
          <p:nvPr/>
        </p:nvSpPr>
        <p:spPr>
          <a:xfrm>
            <a:off x="426143" y="835564"/>
            <a:ext cx="1069848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718277"/>
                </a:solidFill>
                <a:latin typeface="Aptos"/>
              </a:defRPr>
            </a:pPr>
            <a:r>
              <a:rPr lang="en-US" sz="1200" dirty="0"/>
              <a:t>Summary of implementation challenge's </a:t>
            </a:r>
            <a:r>
              <a:rPr lang="en-US" sz="1200"/>
              <a:t>solution</a:t>
            </a:r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FCD110-846E-861D-19AD-4DF4E69AEEA3}"/>
              </a:ext>
            </a:extLst>
          </p:cNvPr>
          <p:cNvSpPr/>
          <p:nvPr/>
        </p:nvSpPr>
        <p:spPr>
          <a:xfrm>
            <a:off x="426143" y="1191027"/>
            <a:ext cx="658368" cy="50292"/>
          </a:xfrm>
          <a:prstGeom prst="rect">
            <a:avLst/>
          </a:prstGeom>
          <a:solidFill>
            <a:srgbClr val="278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27C0E27A-1043-BC4E-0511-3E66200BBBD3}"/>
              </a:ext>
            </a:extLst>
          </p:cNvPr>
          <p:cNvSpPr/>
          <p:nvPr/>
        </p:nvSpPr>
        <p:spPr>
          <a:xfrm>
            <a:off x="538177" y="1763790"/>
            <a:ext cx="10744200" cy="766073"/>
          </a:xfrm>
          <a:prstGeom prst="round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7B41E5F3-9FCE-30BA-6311-8FBFF1884BBE}"/>
              </a:ext>
            </a:extLst>
          </p:cNvPr>
          <p:cNvSpPr/>
          <p:nvPr/>
        </p:nvSpPr>
        <p:spPr>
          <a:xfrm>
            <a:off x="538177" y="3061490"/>
            <a:ext cx="10744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6">
            <a:extLst>
              <a:ext uri="{FF2B5EF4-FFF2-40B4-BE49-F238E27FC236}">
                <a16:creationId xmlns:a16="http://schemas.microsoft.com/office/drawing/2014/main" id="{CD116E1B-0D9A-AFAB-1397-87A806D90EDA}"/>
              </a:ext>
            </a:extLst>
          </p:cNvPr>
          <p:cNvSpPr/>
          <p:nvPr/>
        </p:nvSpPr>
        <p:spPr>
          <a:xfrm>
            <a:off x="538177" y="4310711"/>
            <a:ext cx="10744200" cy="812530"/>
          </a:xfrm>
          <a:prstGeom prst="round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E506A91E-BB2A-7553-FFD9-08BF6AFE4274}"/>
              </a:ext>
            </a:extLst>
          </p:cNvPr>
          <p:cNvSpPr/>
          <p:nvPr/>
        </p:nvSpPr>
        <p:spPr>
          <a:xfrm>
            <a:off x="538177" y="5523137"/>
            <a:ext cx="10744200" cy="818816"/>
          </a:xfrm>
          <a:prstGeom prst="round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6341EC-3C02-C16A-C66E-2C2F003450BD}"/>
              </a:ext>
            </a:extLst>
          </p:cNvPr>
          <p:cNvSpPr txBox="1"/>
          <p:nvPr/>
        </p:nvSpPr>
        <p:spPr>
          <a:xfrm>
            <a:off x="705575" y="2009865"/>
            <a:ext cx="2331720" cy="27392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defRPr sz="1300" b="1">
                <a:solidFill>
                  <a:srgbClr val="173F2A"/>
                </a:solidFill>
                <a:latin typeface="Aptos"/>
              </a:defRPr>
            </a:pPr>
            <a:r>
              <a:rPr lang="en-IN" dirty="0">
                <a:ea typeface="+mn-lt"/>
                <a:cs typeface="+mn-lt"/>
              </a:rPr>
              <a:t>Carbon Footprint </a:t>
            </a:r>
            <a:r>
              <a:rPr lang="en-US" dirty="0">
                <a:ea typeface="+mn-lt"/>
                <a:cs typeface="+mn-lt"/>
              </a:rPr>
              <a:t>Tracking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E90799-90F4-D3CA-75C2-E9949FC27934}"/>
              </a:ext>
            </a:extLst>
          </p:cNvPr>
          <p:cNvSpPr txBox="1"/>
          <p:nvPr/>
        </p:nvSpPr>
        <p:spPr>
          <a:xfrm>
            <a:off x="755327" y="3174446"/>
            <a:ext cx="2331720" cy="4739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defRPr sz="1300" b="1">
                <a:solidFill>
                  <a:srgbClr val="173F2A"/>
                </a:solidFill>
                <a:latin typeface="Aptos"/>
              </a:defRPr>
            </a:pPr>
            <a:r>
              <a:rPr lang="en-US">
                <a:ea typeface="+mn-lt"/>
                <a:cs typeface="+mn-lt"/>
              </a:rPr>
              <a:t>Goal and Challenge Progress Calculation</a:t>
            </a:r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136F78-C600-D7A8-744C-8799239F2A04}"/>
              </a:ext>
            </a:extLst>
          </p:cNvPr>
          <p:cNvSpPr txBox="1"/>
          <p:nvPr/>
        </p:nvSpPr>
        <p:spPr>
          <a:xfrm>
            <a:off x="755327" y="4455667"/>
            <a:ext cx="2331720" cy="4739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defRPr sz="1300" b="1">
                <a:solidFill>
                  <a:srgbClr val="173F2A"/>
                </a:solidFill>
                <a:latin typeface="Aptos"/>
              </a:defRPr>
            </a:pPr>
            <a:r>
              <a:rPr lang="en-US" dirty="0">
                <a:ea typeface="+mn-lt"/>
                <a:cs typeface="+mn-lt"/>
              </a:rPr>
              <a:t>Automated Goal and </a:t>
            </a:r>
            <a:r>
              <a:rPr lang="en-US">
                <a:ea typeface="+mn-lt"/>
                <a:cs typeface="+mn-lt"/>
              </a:rPr>
              <a:t>Challenge Suggestions</a:t>
            </a:r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236BAC-CB73-63A0-A24D-AE1EE78E34CE}"/>
              </a:ext>
            </a:extLst>
          </p:cNvPr>
          <p:cNvSpPr txBox="1"/>
          <p:nvPr/>
        </p:nvSpPr>
        <p:spPr>
          <a:xfrm>
            <a:off x="755327" y="5795584"/>
            <a:ext cx="2331720" cy="27392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defRPr sz="1300" b="1">
                <a:solidFill>
                  <a:srgbClr val="173F2A"/>
                </a:solidFill>
                <a:latin typeface="Aptos"/>
              </a:defRPr>
            </a:pPr>
            <a:r>
              <a:rPr lang="en-US">
                <a:ea typeface="+mn-lt"/>
                <a:cs typeface="+mn-lt"/>
              </a:rPr>
              <a:t>Admin Report Generation</a:t>
            </a:r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E54C47-3F56-E2FA-6758-26D6508BD5C7}"/>
              </a:ext>
            </a:extLst>
          </p:cNvPr>
          <p:cNvSpPr txBox="1"/>
          <p:nvPr/>
        </p:nvSpPr>
        <p:spPr>
          <a:xfrm>
            <a:off x="9010135" y="3429000"/>
            <a:ext cx="133865" cy="444121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/>
              <a:t>Used </a:t>
            </a:r>
            <a:r>
              <a:rPr lang="en-US" b="1"/>
              <a:t>MongoDB Mongoose Aggregation</a:t>
            </a:r>
            <a:r>
              <a:rPr lang="en-US"/>
              <a:t> to process and summarize user activities.</a:t>
            </a:r>
          </a:p>
          <a:p>
            <a:pPr>
              <a:buFont typeface=""/>
              <a:buChar char="•"/>
            </a:pPr>
            <a:r>
              <a:rPr lang="en-US"/>
              <a:t>Grouped activity data by day, week, and month to calculate carbon emissions and display tracking statistics.</a:t>
            </a:r>
          </a:p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DA9E4E-5E4D-6C6F-6F02-361B1A9B1DF4}"/>
              </a:ext>
            </a:extLst>
          </p:cNvPr>
          <p:cNvSpPr txBox="1"/>
          <p:nvPr/>
        </p:nvSpPr>
        <p:spPr>
          <a:xfrm>
            <a:off x="3736273" y="3193194"/>
            <a:ext cx="7726679" cy="6278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buFont typeface="Arial"/>
              <a:buChar char="•"/>
              <a:defRPr sz="1100" b="0">
                <a:solidFill>
                  <a:srgbClr val="374B3F"/>
                </a:solidFill>
                <a:latin typeface="Aptos"/>
              </a:defRPr>
            </a:pPr>
            <a:r>
              <a:rPr lang="en-US" sz="1200">
                <a:ea typeface="+mn-lt"/>
                <a:cs typeface="+mn-lt"/>
              </a:rPr>
              <a:t>    Developed backend logic to calculate progress based on user activities, predefined targets, and time periods.</a:t>
            </a:r>
            <a:endParaRPr lang="en-US" sz="1200" dirty="0"/>
          </a:p>
          <a:p>
            <a:pPr>
              <a:buFont typeface="Arial"/>
              <a:buChar char="•"/>
              <a:defRPr sz="1100" b="0">
                <a:solidFill>
                  <a:srgbClr val="374B3F"/>
                </a:solidFill>
                <a:latin typeface="Aptos"/>
              </a:defRPr>
            </a:pPr>
            <a:r>
              <a:rPr lang="en-US" sz="1200">
                <a:ea typeface="+mn-lt"/>
                <a:cs typeface="+mn-lt"/>
              </a:rPr>
              <a:t>    Automatically updated goal and challenge statuses according to the user's progress and completion criteria.</a:t>
            </a:r>
            <a:endParaRPr lang="en-US"/>
          </a:p>
          <a:p>
            <a:pPr>
              <a:buFont typeface="Arial"/>
              <a:buChar char="•"/>
              <a:defRPr sz="1100" b="0">
                <a:solidFill>
                  <a:srgbClr val="374B3F"/>
                </a:solidFill>
                <a:latin typeface="Aptos"/>
              </a:defRPr>
            </a:pPr>
            <a:endParaRPr lang="en-US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99A4E3-142F-E070-55E8-1BB23CBD38AE}"/>
              </a:ext>
            </a:extLst>
          </p:cNvPr>
          <p:cNvSpPr txBox="1"/>
          <p:nvPr/>
        </p:nvSpPr>
        <p:spPr>
          <a:xfrm>
            <a:off x="3759746" y="1918015"/>
            <a:ext cx="7726679" cy="6278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buFont typeface="Arial"/>
              <a:buChar char="•"/>
              <a:defRPr sz="1100" b="0">
                <a:solidFill>
                  <a:srgbClr val="374B3F"/>
                </a:solidFill>
                <a:latin typeface="Aptos"/>
              </a:defRPr>
            </a:pPr>
            <a:r>
              <a:rPr lang="en-US" sz="1200">
                <a:ea typeface="+mn-lt"/>
                <a:cs typeface="+mn-lt"/>
              </a:rPr>
              <a:t>     Used </a:t>
            </a:r>
            <a:r>
              <a:rPr lang="en-US" sz="1200" b="1">
                <a:ea typeface="+mn-lt"/>
                <a:cs typeface="+mn-lt"/>
              </a:rPr>
              <a:t>MongoDB Mongoose Aggregation</a:t>
            </a:r>
            <a:r>
              <a:rPr lang="en-US" sz="1200">
                <a:ea typeface="+mn-lt"/>
                <a:cs typeface="+mn-lt"/>
              </a:rPr>
              <a:t> to process and summarize user activities.</a:t>
            </a:r>
            <a:endParaRPr lang="en-US" sz="1200" dirty="0">
              <a:ea typeface="+mn-lt"/>
              <a:cs typeface="+mn-lt"/>
            </a:endParaRPr>
          </a:p>
          <a:p>
            <a:pPr>
              <a:buFont typeface="Arial"/>
              <a:buChar char="•"/>
              <a:defRPr sz="1100" b="0">
                <a:solidFill>
                  <a:srgbClr val="374B3F"/>
                </a:solidFill>
                <a:latin typeface="Aptos"/>
              </a:defRPr>
            </a:pPr>
            <a:r>
              <a:rPr lang="en-US" sz="1200">
                <a:ea typeface="+mn-lt"/>
                <a:cs typeface="+mn-lt"/>
              </a:rPr>
              <a:t>     Grouped activity data by day, week, and month to calculate carbon emissions and display tracking statistics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100" b="0">
                <a:solidFill>
                  <a:srgbClr val="374B3F"/>
                </a:solidFill>
                <a:latin typeface="Aptos"/>
              </a:defRPr>
            </a:pPr>
            <a:endParaRPr lang="en-US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A761E0-C1D3-B5D4-55CC-435B18E30B10}"/>
              </a:ext>
            </a:extLst>
          </p:cNvPr>
          <p:cNvSpPr txBox="1"/>
          <p:nvPr/>
        </p:nvSpPr>
        <p:spPr>
          <a:xfrm>
            <a:off x="3797890" y="4397491"/>
            <a:ext cx="7726679" cy="81253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buFont typeface="Arial"/>
              <a:buChar char="•"/>
              <a:defRPr sz="1100" b="0">
                <a:solidFill>
                  <a:srgbClr val="374B3F"/>
                </a:solidFill>
                <a:latin typeface="Aptos"/>
              </a:defRPr>
            </a:pPr>
            <a:r>
              <a:rPr lang="en-US" sz="1200" dirty="0">
                <a:ea typeface="+mn-lt"/>
                <a:cs typeface="+mn-lt"/>
              </a:rPr>
              <a:t>     Used the </a:t>
            </a:r>
            <a:r>
              <a:rPr lang="en-US" sz="1200" b="1" dirty="0">
                <a:ea typeface="+mn-lt"/>
                <a:cs typeface="+mn-lt"/>
              </a:rPr>
              <a:t>node-</a:t>
            </a:r>
            <a:r>
              <a:rPr lang="en-US" sz="1200" b="1" dirty="0" err="1">
                <a:ea typeface="+mn-lt"/>
                <a:cs typeface="+mn-lt"/>
              </a:rPr>
              <a:t>cron</a:t>
            </a:r>
            <a:r>
              <a:rPr lang="en-US" sz="1200" dirty="0">
                <a:ea typeface="+mn-lt"/>
                <a:cs typeface="+mn-lt"/>
              </a:rPr>
              <a:t> package to schedule automated tasks at predefined times and intervals.  </a:t>
            </a:r>
            <a:endParaRPr lang="en-US" sz="1200" dirty="0"/>
          </a:p>
          <a:p>
            <a:pPr>
              <a:buFont typeface="Arial"/>
              <a:buChar char="•"/>
              <a:defRPr sz="1100" b="0">
                <a:solidFill>
                  <a:srgbClr val="374B3F"/>
                </a:solidFill>
                <a:latin typeface="Aptos"/>
              </a:defRPr>
            </a:pPr>
            <a:r>
              <a:rPr lang="en-US" sz="1200">
                <a:ea typeface="+mn-lt"/>
                <a:cs typeface="+mn-lt"/>
              </a:rPr>
              <a:t>     Implemented backend logic to generate goal and challenge suggestions and send scheduled reminders and notifications</a:t>
            </a:r>
            <a:r>
              <a:rPr lang="en-US" sz="1200" dirty="0">
                <a:ea typeface="+mn-lt"/>
                <a:cs typeface="+mn-lt"/>
              </a:rPr>
              <a:t> to users.</a:t>
            </a:r>
            <a:endParaRPr lang="en-US" sz="1200" dirty="0"/>
          </a:p>
          <a:p>
            <a:pPr>
              <a:buFont typeface="Arial"/>
              <a:buChar char="•"/>
              <a:defRPr sz="1100" b="0">
                <a:solidFill>
                  <a:srgbClr val="374B3F"/>
                </a:solidFill>
                <a:latin typeface="Aptos"/>
              </a:defRPr>
            </a:pP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26C697-0032-3139-3A83-8ABD8EFB1E65}"/>
              </a:ext>
            </a:extLst>
          </p:cNvPr>
          <p:cNvSpPr txBox="1"/>
          <p:nvPr/>
        </p:nvSpPr>
        <p:spPr>
          <a:xfrm>
            <a:off x="3797889" y="5592145"/>
            <a:ext cx="7726679" cy="9202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buFont typeface="Arial"/>
              <a:buChar char="•"/>
              <a:defRPr sz="1100" b="0">
                <a:solidFill>
                  <a:srgbClr val="374B3F"/>
                </a:solidFill>
                <a:latin typeface="Aptos"/>
              </a:defRPr>
            </a:pPr>
            <a:r>
              <a:rPr lang="en-US" sz="1100">
                <a:ea typeface="+mn-lt"/>
                <a:cs typeface="+mn-lt"/>
              </a:rPr>
              <a:t>    Implemented backend API integration to retrieve report data for the admin panel.</a:t>
            </a:r>
            <a:endParaRPr lang="en-US" sz="1100" dirty="0"/>
          </a:p>
          <a:p>
            <a:pPr>
              <a:buFont typeface="Arial"/>
              <a:buChar char="•"/>
              <a:defRPr sz="1100" b="0">
                <a:solidFill>
                  <a:srgbClr val="374B3F"/>
                </a:solidFill>
                <a:latin typeface="Aptos"/>
              </a:defRPr>
            </a:pPr>
            <a:r>
              <a:rPr lang="en-US" sz="1100">
                <a:ea typeface="+mn-lt"/>
                <a:cs typeface="+mn-lt"/>
              </a:rPr>
              <a:t>    Organized the retrieved information into structured report sections for easier interpretation.</a:t>
            </a:r>
            <a:endParaRPr lang="en-US"/>
          </a:p>
          <a:p>
            <a:pPr>
              <a:buFont typeface="Arial"/>
              <a:buChar char="•"/>
              <a:defRPr sz="1100" b="0">
                <a:solidFill>
                  <a:srgbClr val="374B3F"/>
                </a:solidFill>
                <a:latin typeface="Aptos"/>
              </a:defRPr>
            </a:pPr>
            <a:r>
              <a:rPr lang="en-US" sz="1100">
                <a:ea typeface="+mn-lt"/>
                <a:cs typeface="+mn-lt"/>
              </a:rPr>
              <a:t>    Connected the reporting functionality with the admin interface to support monitoring of user statistics and challenge progress.</a:t>
            </a:r>
            <a:endParaRPr lang="en-US"/>
          </a:p>
          <a:p>
            <a:pPr>
              <a:buFont typeface="Arial"/>
              <a:buChar char="•"/>
              <a:defRPr sz="1100" b="0">
                <a:solidFill>
                  <a:srgbClr val="374B3F"/>
                </a:solidFill>
                <a:latin typeface="Aptos"/>
              </a:defRPr>
            </a:pP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5FCBC4-7B31-BC2A-C1E5-0D3A11A95EEE}"/>
              </a:ext>
            </a:extLst>
          </p:cNvPr>
          <p:cNvSpPr txBox="1"/>
          <p:nvPr/>
        </p:nvSpPr>
        <p:spPr>
          <a:xfrm>
            <a:off x="323170" y="6566627"/>
            <a:ext cx="3474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800" b="1">
                <a:solidFill>
                  <a:srgbClr val="718277"/>
                </a:solidFill>
                <a:latin typeface="Aptos"/>
              </a:defRPr>
            </a:pPr>
            <a:r>
              <a:t>ECOTRACK • GROUP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B89205-C453-425A-D600-B9FF1D86C926}"/>
              </a:ext>
            </a:extLst>
          </p:cNvPr>
          <p:cNvSpPr txBox="1"/>
          <p:nvPr/>
        </p:nvSpPr>
        <p:spPr>
          <a:xfrm>
            <a:off x="11139617" y="6473952"/>
            <a:ext cx="740992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718277"/>
                </a:solidFill>
                <a:latin typeface="Aptos"/>
              </a:defRPr>
            </a:pPr>
            <a:r>
              <a:rPr lang="en-US" sz="1000" b="1"/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02952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600" b="1">
                <a:solidFill>
                  <a:srgbClr val="173F2A"/>
                </a:solidFill>
                <a:latin typeface="Aptos"/>
              </a:defRPr>
            </a:pPr>
            <a:r>
              <a:t>Key Pages — User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23297"/>
            <a:ext cx="658368" cy="50292"/>
          </a:xfrm>
          <a:prstGeom prst="rect">
            <a:avLst/>
          </a:prstGeom>
          <a:solidFill>
            <a:srgbClr val="278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49914" y="6473952"/>
            <a:ext cx="4114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718277"/>
                </a:solidFill>
                <a:latin typeface="Aptos"/>
              </a:defRPr>
            </a:pPr>
            <a:r>
              <a:rPr lang="en-US" sz="1000" b="1"/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3474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800" b="1">
                <a:solidFill>
                  <a:srgbClr val="718277"/>
                </a:solidFill>
                <a:latin typeface="Aptos"/>
              </a:defRPr>
            </a:pPr>
            <a:r>
              <a:t>ECOTRACK • GROUP 2</a:t>
            </a:r>
          </a:p>
        </p:txBody>
      </p:sp>
      <p:sp>
        <p:nvSpPr>
          <p:cNvPr id="7" name="Rectangle 6"/>
          <p:cNvSpPr/>
          <p:nvPr/>
        </p:nvSpPr>
        <p:spPr>
          <a:xfrm>
            <a:off x="1222454" y="1549908"/>
            <a:ext cx="9649637" cy="4914393"/>
          </a:xfrm>
          <a:prstGeom prst="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(176)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24" y="1099093"/>
            <a:ext cx="9655402" cy="50849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97665" y="6183845"/>
            <a:ext cx="34564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73F2A"/>
                </a:solidFill>
                <a:latin typeface="Aptos"/>
              </a:defRPr>
            </a:pPr>
            <a:r>
              <a:t>User Dashboard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600" b="1">
                <a:solidFill>
                  <a:srgbClr val="173F2A"/>
                </a:solidFill>
                <a:latin typeface="Aptos"/>
              </a:defRPr>
            </a:pPr>
            <a:r>
              <a:t>Key Pages — Admin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81" y="913000"/>
            <a:ext cx="658368" cy="50292"/>
          </a:xfrm>
          <a:prstGeom prst="rect">
            <a:avLst/>
          </a:prstGeom>
          <a:solidFill>
            <a:srgbClr val="278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718277"/>
                </a:solidFill>
                <a:latin typeface="Aptos"/>
              </a:defRPr>
            </a:pPr>
            <a:r>
              <a:rPr lang="en-US" sz="1000" b="1"/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3474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800" b="1">
                <a:solidFill>
                  <a:srgbClr val="718277"/>
                </a:solidFill>
                <a:latin typeface="Aptos"/>
              </a:defRPr>
            </a:pPr>
            <a:r>
              <a:t>ECOTRACK • GROUP 2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427" y="1076232"/>
            <a:ext cx="9536366" cy="5295393"/>
          </a:xfrm>
          <a:prstGeom prst="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(189)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694" y="1068202"/>
            <a:ext cx="9531834" cy="50128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97665" y="6080873"/>
            <a:ext cx="34564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73F2A"/>
                </a:solidFill>
                <a:latin typeface="Aptos"/>
              </a:defRPr>
            </a:pPr>
            <a:r>
              <a:t>Admin Dashboard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600" b="1">
                <a:solidFill>
                  <a:srgbClr val="173F2A"/>
                </a:solidFill>
                <a:latin typeface="Aptos"/>
              </a:defRPr>
            </a:pPr>
            <a:r>
              <a:t>Outcome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698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718277"/>
                </a:solidFill>
                <a:latin typeface="Aptos"/>
              </a:defRPr>
            </a:pPr>
            <a:r>
              <a:t>What EcoTrack brings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658368" cy="50292"/>
          </a:xfrm>
          <a:prstGeom prst="rect">
            <a:avLst/>
          </a:prstGeom>
          <a:solidFill>
            <a:srgbClr val="278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718277"/>
                </a:solidFill>
                <a:latin typeface="Aptos"/>
              </a:defRPr>
            </a:pPr>
            <a:r>
              <a:rPr lang="en-US" sz="1000" b="1"/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3474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800" b="1">
                <a:solidFill>
                  <a:srgbClr val="718277"/>
                </a:solidFill>
                <a:latin typeface="Aptos"/>
              </a:defRPr>
            </a:pPr>
            <a:r>
              <a:t>ECOTRACK • GROUP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801368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27834D"/>
                </a:solidFill>
                <a:latin typeface="Aptos"/>
              </a:defRPr>
            </a:pPr>
            <a:r>
              <a:t>CENTRALIZED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12848"/>
            <a:ext cx="457200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374B3F"/>
                </a:solidFill>
                <a:latin typeface="Aptos"/>
              </a:defRPr>
            </a:pPr>
            <a:r>
              <a:t>Records transportation, electricity and waste activity in one 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801368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27834D"/>
                </a:solidFill>
                <a:latin typeface="Aptos"/>
              </a:defRPr>
            </a:pPr>
            <a:r>
              <a:t>PROGRESS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12848"/>
            <a:ext cx="457200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374B3F"/>
                </a:solidFill>
                <a:latin typeface="Aptos"/>
              </a:defRPr>
            </a:pPr>
            <a:r>
              <a:t>Supports progress monitoring for personal sustainability goals and challenges.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2044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721608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27834D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33088"/>
            <a:ext cx="457200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374B3F"/>
                </a:solidFill>
                <a:latin typeface="Aptos"/>
              </a:defRPr>
            </a:pPr>
            <a:r>
              <a:t>Scheduled suggestions and reminders encourage continued engagement.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52044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721608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27834D"/>
                </a:solidFill>
                <a:latin typeface="Aptos"/>
              </a:defRPr>
            </a:pPr>
            <a:r>
              <a:t>ADMIN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133088"/>
            <a:ext cx="457200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374B3F"/>
                </a:solidFill>
                <a:latin typeface="Aptos"/>
              </a:defRPr>
            </a:pPr>
            <a:r>
              <a:t>Dashboard and reports help administrators review user and challenge information.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5623560"/>
            <a:ext cx="10241280" cy="502920"/>
          </a:xfrm>
          <a:prstGeom prst="roundRect">
            <a:avLst/>
          </a:prstGeom>
          <a:solidFill>
            <a:srgbClr val="EAF5ED"/>
          </a:solidFill>
          <a:ln>
            <a:solidFill>
              <a:srgbClr val="EA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5751576"/>
            <a:ext cx="97840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1">
                <a:solidFill>
                  <a:srgbClr val="173F2A"/>
                </a:solidFill>
                <a:latin typeface="Aptos"/>
              </a:defRPr>
            </a:pPr>
            <a:r>
              <a:rPr sz="1600"/>
              <a:t>Impact statement: </a:t>
            </a:r>
            <a:r>
              <a:rPr lang="en-US" sz="1600"/>
              <a:t>Makes</a:t>
            </a:r>
            <a:r>
              <a:rPr sz="1600"/>
              <a:t> sustainability activity easier to record, review and act on.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11045" y="230777"/>
            <a:ext cx="4572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CFE7D7"/>
                </a:solidFill>
                <a:latin typeface="Aptos"/>
              </a:defRPr>
            </a:pPr>
            <a:r>
              <a:t>ECOTRACK • GROUP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4103" y="2286000"/>
            <a:ext cx="640080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0653" y="3649362"/>
            <a:ext cx="56692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CFE7D7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7789" y="4584357"/>
            <a:ext cx="6161490" cy="1058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rPr lang="en-US" sz="1600"/>
              <a:t>TEAM MEMBERS :-</a:t>
            </a:r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endParaRPr lang="en-US" sz="1600"/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rPr lang="en-US" sz="1600" dirty="0"/>
              <a:t>Yuvraj</a:t>
            </a:r>
            <a:r>
              <a:rPr sz="1600" dirty="0"/>
              <a:t> Sharma  •  Shreeram Patel  •  Namratha </a:t>
            </a:r>
            <a:r>
              <a:rPr sz="1600" dirty="0" err="1"/>
              <a:t>Kalivarapu</a:t>
            </a:r>
            <a:br>
              <a:rPr sz="1600" dirty="0"/>
            </a:br>
            <a:r>
              <a:rPr sz="1600" dirty="0"/>
              <a:t>Priyanka Kumari  •  Uppala Naveen Kumar  •  </a:t>
            </a:r>
            <a:r>
              <a:rPr sz="1600" dirty="0" err="1"/>
              <a:t>Balavighnesh</a:t>
            </a:r>
            <a:r>
              <a:rPr sz="1600" dirty="0"/>
              <a:t> J</a:t>
            </a:r>
            <a:endParaRPr lang="en-US" sz="1600" dirty="0"/>
          </a:p>
        </p:txBody>
      </p:sp>
      <p:sp>
        <p:nvSpPr>
          <p:cNvPr id="6" name="Oval 5"/>
          <p:cNvSpPr/>
          <p:nvPr/>
        </p:nvSpPr>
        <p:spPr>
          <a:xfrm>
            <a:off x="8412480" y="914400"/>
            <a:ext cx="2743200" cy="2743200"/>
          </a:xfrm>
          <a:prstGeom prst="ellipse">
            <a:avLst/>
          </a:prstGeom>
          <a:solidFill>
            <a:srgbClr val="278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0" y="2926080"/>
            <a:ext cx="2194560" cy="2194560"/>
          </a:xfrm>
          <a:prstGeom prst="ellipse">
            <a:avLst/>
          </a:prstGeom>
          <a:solidFill>
            <a:srgbClr val="246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55279" y="4206240"/>
            <a:ext cx="1554480" cy="1554480"/>
          </a:xfrm>
          <a:prstGeom prst="ellipse">
            <a:avLst/>
          </a:prstGeom>
          <a:solidFill>
            <a:srgbClr val="CFE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8823" y="6361612"/>
            <a:ext cx="4572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CFE7D7"/>
                </a:solidFill>
                <a:latin typeface="Aptos"/>
              </a:defRPr>
            </a:pPr>
            <a:r>
              <a:t>TRACK YOUR IMPACT. BUILD A GREENER FUTURE.</a:t>
            </a:r>
          </a:p>
        </p:txBody>
      </p:sp>
      <p:pic>
        <p:nvPicPr>
          <p:cNvPr id="11" name="Picture 10" descr="A white rectangular object with green text&#10;&#10;AI-generated content may be incorrect.">
            <a:extLst>
              <a:ext uri="{FF2B5EF4-FFF2-40B4-BE49-F238E27FC236}">
                <a16:creationId xmlns:a16="http://schemas.microsoft.com/office/drawing/2014/main" id="{5C8E944E-98A6-05B0-88BE-E4C6594F3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" y="-4634"/>
            <a:ext cx="1926882" cy="15950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ACB7A2-09DE-FE4F-8743-973227D8BEAB}"/>
              </a:ext>
            </a:extLst>
          </p:cNvPr>
          <p:cNvSpPr txBox="1"/>
          <p:nvPr/>
        </p:nvSpPr>
        <p:spPr>
          <a:xfrm>
            <a:off x="11201400" y="6473952"/>
            <a:ext cx="41148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718277"/>
                </a:solidFill>
                <a:latin typeface="Aptos"/>
              </a:defRPr>
            </a:pPr>
            <a:r>
              <a:rPr lang="en-US" sz="1100" b="1">
                <a:solidFill>
                  <a:srgbClr val="FFFF00"/>
                </a:solidFill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ilm Burn">
  <a:themeElements>
    <a:clrScheme name="Film Burn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Film Burn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Film Bur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D87570FC-4836-4BB0-AAFD-165DAAA9EA26}" vid="{EE25A5E3-C8B7-4876-88F1-4A6AC5925E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Shreeram Patel</cp:lastModifiedBy>
  <cp:revision>397</cp:revision>
  <dcterms:created xsi:type="dcterms:W3CDTF">2013-01-27T09:14:16Z</dcterms:created>
  <dcterms:modified xsi:type="dcterms:W3CDTF">2026-10-15T13:09:20Z</dcterms:modified>
  <cp:category/>
</cp:coreProperties>
</file>